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TRUSTWORTHY CXR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Can lung-guided models look in the right place?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50D7D8"/>
                </a:solidFill>
                <a:latin typeface="Aptos"/>
              </a:defRPr>
            </a:pPr>
            <a:r>
              <a:t>Classification  •  anatomical localisation  •  actual input dependence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9966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0">
                <a:solidFill>
                  <a:srgbClr val="F5F8FA"/>
                </a:solidFill>
                <a:latin typeface="Aptos"/>
              </a:defRPr>
            </a:pPr>
            <a:r>
              <a:t>Three-CNN closeout is measured. The matched perturbation experiment is prepared but not yet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84064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EBECC"/>
                </a:solidFill>
                <a:latin typeface="Aptos"/>
              </a:defRPr>
            </a:pPr>
            <a:r>
              <a:t>Ravindu-Pathirana / Chest-X-ray-Disease-Detection • explainable-AI branch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The evidence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51760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8580" cy="338328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93392"/>
            <a:ext cx="2231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L1 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87168"/>
            <a:ext cx="2231136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Does the learned attention map overlap the lung mask?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828800"/>
            <a:ext cx="2651760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828800"/>
            <a:ext cx="68580" cy="338328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993392"/>
            <a:ext cx="2231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L2  Localisation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487168"/>
            <a:ext cx="2231136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Does predicted-class Grad-CAM energy move into lungs?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2651760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828800"/>
            <a:ext cx="68580" cy="3383280"/>
          </a:xfrm>
          <a:prstGeom prst="rect">
            <a:avLst/>
          </a:prstGeom>
          <a:solidFill>
            <a:srgbClr val="FF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93392"/>
            <a:ext cx="2231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9B75"/>
                </a:solidFill>
                <a:latin typeface="Aptos"/>
              </a:defRPr>
            </a:pPr>
            <a:r>
              <a:t>L3  Dependence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2231136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Does changing lung versus background content change predictions?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1828800"/>
            <a:ext cx="2651760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2832" y="1828800"/>
            <a:ext cx="68580" cy="338328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1993392"/>
            <a:ext cx="2231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L4 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487168"/>
            <a:ext cx="2231136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Does performance hold on a separately mapped external dataset?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9B75"/>
                </a:solidFill>
                <a:latin typeface="Aptos"/>
              </a:defRPr>
            </a:pPr>
            <a:r>
              <a:t>Higher EIL is evidence about heatmap location—not proof of lower background reliance.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Fixed data and comparison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29000" cy="251460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8580" cy="25146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21,165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3008376" cy="1709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Four CXR classes; image-level split because patient identifiers are unavailable.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51460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8580" cy="25146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993392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14,815 / 3,175 / 3,175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87168"/>
            <a:ext cx="3008376" cy="1709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Train / validation / test. One committed manifest reused across experiments.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429000" cy="251460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68580" cy="25146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993392"/>
            <a:ext cx="30083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1,000 fixed CAM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487168"/>
            <a:ext cx="3008376" cy="1709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The same subset and image IDs support paired CNN EIL comparisons.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F5F8FA"/>
                </a:solidFill>
                <a:latin typeface="Aptos"/>
              </a:defRPr>
            </a:pPr>
            <a:r>
              <a:t>Seed-42 ablations + three matched seeds for the selected CNN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Three candidates, one transparent selection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3566160" cy="331012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68580" cy="3310128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3145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A  Residual lung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3145536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Soft-mask-supervised spatial gate after backbone features. No mask needed at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566160" cy="331012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68580" cy="3310128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2"/>
            <a:ext cx="3145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B  Auxiliary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87168"/>
            <a:ext cx="3145536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Full-resolution lung-mask decoder with a classification + BCE/Dice objective.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828800"/>
            <a:ext cx="3566160" cy="3310128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1828800"/>
            <a:ext cx="68580" cy="3310128"/>
          </a:xfrm>
          <a:prstGeom prst="rect">
            <a:avLst/>
          </a:prstGeom>
          <a:solidFill>
            <a:srgbClr val="FF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3145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9B75"/>
                </a:solidFill>
                <a:latin typeface="Aptos"/>
              </a:defRPr>
            </a:pPr>
            <a:r>
              <a:t>C  Activation penalty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87168"/>
            <a:ext cx="3145536" cy="250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Penalises ReLU feature activation outside lungs during training; not a Grad-CAM loss.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EBECC"/>
                </a:solidFill>
                <a:latin typeface="Aptos"/>
              </a:defRPr>
            </a:pPr>
            <a:r>
              <a:t>C led the DenseNet classification ablation; A was carried forward for its measured EIL and lightweight transferable gate—not declared a global winner.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Three-CNN results: matched-seed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73936"/>
            <a:ext cx="11155680" cy="502920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9656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819656"/>
            <a:ext cx="2852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A0 →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1848" y="1819656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Accuracy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7" y="1819656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Macro-F1 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819656"/>
            <a:ext cx="2121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EIL 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23160"/>
            <a:ext cx="11155680" cy="502920"/>
          </a:xfrm>
          <a:prstGeom prst="rect">
            <a:avLst/>
          </a:prstGeom>
          <a:solidFill>
            <a:srgbClr val="0E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468879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DenseNet121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468879"/>
            <a:ext cx="2852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A0_vanilla → A2_full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2468879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+0.02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2468879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-0.08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7" y="2468879"/>
            <a:ext cx="2121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+7.05 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27248"/>
            <a:ext cx="11155680" cy="502920"/>
          </a:xfrm>
          <a:prstGeom prst="rect">
            <a:avLst/>
          </a:prstGeom>
          <a:solidFill>
            <a:srgbClr val="0E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172968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ResNet50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172968"/>
            <a:ext cx="2852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A0_vanilla → A3_multiply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1848" y="3172968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-0.42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7" y="3172968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-0.52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7" y="3172968"/>
            <a:ext cx="2121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+29.90 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31335"/>
            <a:ext cx="11155680" cy="502920"/>
          </a:xfrm>
          <a:prstGeom prst="rect">
            <a:avLst/>
          </a:prstGeom>
          <a:solidFill>
            <a:srgbClr val="0E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877055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EfficientNet-B0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3877055"/>
            <a:ext cx="28529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A0 → A3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3877055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+0.76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3877055"/>
            <a:ext cx="1892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+0.72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7" y="3877055"/>
            <a:ext cx="2121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+11.33 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010912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9B75"/>
                </a:solidFill>
                <a:latin typeface="Aptos"/>
              </a:defRPr>
            </a:pPr>
            <a:r>
              <a:t>EIL rose for all three selected arms, while classification changes were mixed. These are anatomical-localisation findings.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71616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EBECC"/>
                </a:solidFill>
                <a:latin typeface="Aptos"/>
              </a:defRPr>
            </a:pPr>
            <a:r>
              <a:t>Source: artifacts/cnn_closeout/cnn_multiseed_summary.csv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Paired image-level EIL gains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0789920" cy="1060704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68580" cy="1060704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50D7D8"/>
                </a:solidFill>
                <a:latin typeface="Aptos"/>
              </a:defRPr>
            </a:pPr>
            <a:r>
              <a:t>DenseNet121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75104"/>
            <a:ext cx="74980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5F8FA"/>
                </a:solidFill>
                <a:latin typeface="Aptos"/>
              </a:defRPr>
            </a:pPr>
            <a:r>
              <a:t>Δ EIL +0.077  |  95% CI [+0.074, +0.081]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54680"/>
            <a:ext cx="10789920" cy="1060704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154680"/>
            <a:ext cx="68580" cy="1060704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1927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50D7D8"/>
                </a:solidFill>
                <a:latin typeface="Aptos"/>
              </a:defRPr>
            </a:pPr>
            <a:r>
              <a:t>ResNet50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00984"/>
            <a:ext cx="74980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5F8FA"/>
                </a:solidFill>
                <a:latin typeface="Aptos"/>
              </a:defRPr>
            </a:pPr>
            <a:r>
              <a:t>Δ EIL +0.299  |  95% CI [+0.293, +0.305]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80560"/>
            <a:ext cx="10789920" cy="1060704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480560"/>
            <a:ext cx="68580" cy="1060704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451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50D7D8"/>
                </a:solidFill>
                <a:latin typeface="Aptos"/>
              </a:defRPr>
            </a:pPr>
            <a:r>
              <a:t>EfficientNet-B0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626864"/>
            <a:ext cx="74980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5F8FA"/>
                </a:solidFill>
                <a:latin typeface="Aptos"/>
              </a:defRPr>
            </a:pPr>
            <a:r>
              <a:t>Δ EIL +0.143  |  95% CI [+0.138, +0.148]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0533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CC"/>
                </a:solidFill>
                <a:latin typeface="Aptos"/>
              </a:defRPr>
            </a:pPr>
            <a:r>
              <a:t>1,000 shared images; 2,000 paired resamples. Retrospective precision analysis, not preregistered.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The missing test: matched input 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57800" cy="324612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8580" cy="324612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4837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Primary interventions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4837176" cy="2441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Lung blur ↔ background blur; lung swap ↔ background swap. A fixed different-class donor and equal-pixel-count background control are reused across 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257800" cy="324612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68580" cy="3246120"/>
          </a:xfrm>
          <a:prstGeom prst="rect">
            <a:avLst/>
          </a:prstGeom>
          <a:solidFill>
            <a:srgbClr val="FF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993392"/>
            <a:ext cx="4837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9B75"/>
                </a:solidFill>
                <a:latin typeface="Aptos"/>
              </a:defRPr>
            </a:pPr>
            <a:r>
              <a:t>Primary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487168"/>
            <a:ext cx="4837176" cy="2441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TV distance dP = ½ Σ |p(original) − p(perturbed)|. LRG = dP(lung) − dP(background), paired by image and mode.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59552"/>
            <a:ext cx="10698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AEBECC"/>
                </a:solidFill>
                <a:latin typeface="Aptos"/>
              </a:defRPr>
            </a:pPr>
            <a:r>
              <a:t>Implementation and 3,175 donor pairs are ready; no new CXR inference has been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T35 efficiency: what is measured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55648"/>
            <a:ext cx="11155680" cy="502920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01368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801368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Params A0 →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801368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GFLOPs* A0 →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801368"/>
            <a:ext cx="31638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50D7D8"/>
                </a:solidFill>
                <a:latin typeface="Aptos"/>
              </a:defRPr>
            </a:pPr>
            <a:r>
              <a:t>CPU ms A0 → 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11155680" cy="502920"/>
          </a:xfrm>
          <a:prstGeom prst="rect">
            <a:avLst/>
          </a:prstGeom>
          <a:solidFill>
            <a:srgbClr val="0E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359151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DenseNet121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359151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6.96M → 7.09M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359151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2.86 → 2.87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359151"/>
            <a:ext cx="31638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190 → 193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98648"/>
            <a:ext cx="11155680" cy="502920"/>
          </a:xfrm>
          <a:prstGeom prst="rect">
            <a:avLst/>
          </a:prstGeom>
          <a:solidFill>
            <a:srgbClr val="0E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944368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ResNet50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944368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23.52M → 24.04M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944368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4.11 → 4.14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944368"/>
            <a:ext cx="31638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146 → 157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83863"/>
            <a:ext cx="11155680" cy="502920"/>
          </a:xfrm>
          <a:prstGeom prst="rect">
            <a:avLst/>
          </a:prstGeom>
          <a:solidFill>
            <a:srgbClr val="0E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529583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EfficientNet-B0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529583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4.01M → 4.12M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529583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0.40 → 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3529583"/>
            <a:ext cx="31638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60 → 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069079"/>
            <a:ext cx="11155680" cy="502920"/>
          </a:xfrm>
          <a:prstGeom prst="rect">
            <a:avLst/>
          </a:prstGeom>
          <a:solidFill>
            <a:srgbClr val="0E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114799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ViT-Base/16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4114799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85.80M → 85.88M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114799"/>
            <a:ext cx="2788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16.87 → 16.88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114799"/>
            <a:ext cx="316382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5F8FA"/>
                </a:solidFill>
                <a:latin typeface="Aptos"/>
              </a:defRPr>
            </a:pPr>
            <a:r>
              <a:t>317 → 311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074920"/>
            <a:ext cx="10881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FF9B75"/>
                </a:solidFill>
                <a:latin typeface="Aptos"/>
              </a:defRPr>
            </a:pPr>
            <a:r>
              <a:t>Same-session CPU, random-weight architecture benchmark. *FLOPs are partial fvcore estimates; fused attention and other ops were unsupported. Final GPU latency and trained-checkpoint size remain pending.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053328"/>
            <a:ext cx="10515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EBECC"/>
                </a:solidFill>
                <a:latin typeface="Aptos"/>
              </a:defRPr>
            </a:pPr>
            <a:r>
              <a:t>Source: artifacts/T35_efficiency/architecture_only_efficiency.csv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What remains before a full trustworthiness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57800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8580" cy="338328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4837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0D7D8"/>
                </a:solidFill>
                <a:latin typeface="Aptos"/>
              </a:defRPr>
            </a:pPr>
            <a:r>
              <a:t>Inputs and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4837176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Primary images + masks; ResNet A0/A3 and ViT weights; secure Kaggle access. Each checkpoint needs strict load, 100-image smoke and reproduced test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257800" cy="3383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68580" cy="3383280"/>
          </a:xfrm>
          <a:prstGeom prst="rect">
            <a:avLst/>
          </a:prstGeom>
          <a:solidFill>
            <a:srgbClr val="FF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993392"/>
            <a:ext cx="4837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9B75"/>
                </a:solidFill>
                <a:latin typeface="Aptos"/>
              </a:defRPr>
            </a:pPr>
            <a:r>
              <a:t>Measured work still 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487168"/>
            <a:ext cx="4837176" cy="2578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CNN L3 dependence; ViT explanation validation; validation-fitted calibration; RSNA mapping/inference; controlled all-model efficiency; final statistics and figures.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69280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9B75"/>
                </a:solidFill>
                <a:latin typeface="Aptos"/>
              </a:defRPr>
            </a:pPr>
            <a:r>
              <a:t>Missing results remain NOT MEASURED—not zero and not inferred from EIL.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50D7D8"/>
                </a:solidFill>
                <a:latin typeface="Aptos"/>
              </a:defRPr>
            </a:pPr>
            <a:r>
              <a:t>RESEARCH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8FA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27048"/>
            <a:ext cx="11155680" cy="22860"/>
          </a:xfrm>
          <a:prstGeom prst="rect">
            <a:avLst/>
          </a:prstGeom>
          <a:solidFill>
            <a:srgbClr val="50D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515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AEBECC"/>
                </a:solidFill>
                <a:latin typeface="Aptos"/>
              </a:defRPr>
            </a:pPr>
            <a:r>
              <a:t>Chest X-ray disease detection  •  fixed test split  •  measured claims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9224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EBEC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93392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50D7D8"/>
                </a:solidFill>
                <a:latin typeface="Aptos"/>
              </a:defRPr>
            </a:pPr>
            <a:r>
              <a:t>Lung guidance consistently shifted CNN Grad-CAM energy toward lungs.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55264"/>
            <a:ext cx="106070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F9B75"/>
                </a:solidFill>
                <a:latin typeface="Aptos"/>
              </a:defRPr>
            </a:pPr>
            <a:r>
              <a:t>Whether that shift reduces reliance on background shortcuts is still an empirical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84648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5F8FA"/>
                </a:solidFill>
                <a:latin typeface="Aptos"/>
              </a:defRPr>
            </a:pPr>
            <a:r>
              <a:t>Next evidence: matched blur/swap perturbations, paired CIs, then external and efficiency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